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15"/>
  </p:notesMasterIdLst>
  <p:handoutMasterIdLst>
    <p:handoutMasterId r:id="rId16"/>
  </p:handoutMasterIdLst>
  <p:sldIdLst>
    <p:sldId id="268" r:id="rId5"/>
    <p:sldId id="261" r:id="rId6"/>
    <p:sldId id="271" r:id="rId7"/>
    <p:sldId id="273" r:id="rId8"/>
    <p:sldId id="259" r:id="rId9"/>
    <p:sldId id="270" r:id="rId10"/>
    <p:sldId id="272" r:id="rId11"/>
    <p:sldId id="274" r:id="rId12"/>
    <p:sldId id="269" r:id="rId13"/>
    <p:sldId id="267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0"/>
  </p:normalViewPr>
  <p:slideViewPr>
    <p:cSldViewPr snapToGrid="0" snapToObjects="1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03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2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6D1-7547-9B72-D0ABA394A9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6D1-7547-9B72-D0ABA394A9E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6D1-7547-9B72-D0ABA394A9E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1A8-4AD5-B211-3882CD73C12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1A8-4AD5-B211-3882CD73C12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1A8-4AD5-B211-3882CD73C12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1A8-4AD5-B211-3882CD73C125}"/>
              </c:ext>
            </c:extLst>
          </c:dPt>
          <c:cat>
            <c:strRef>
              <c:f>Sheet1!$A$2:$A$8</c:f>
              <c:strCache>
                <c:ptCount val="7"/>
                <c:pt idx="0">
                  <c:v>Sprint 0</c:v>
                </c:pt>
                <c:pt idx="1">
                  <c:v>Sprint 1</c:v>
                </c:pt>
                <c:pt idx="2">
                  <c:v>Sprint 2</c:v>
                </c:pt>
                <c:pt idx="3">
                  <c:v>Sprint 3</c:v>
                </c:pt>
                <c:pt idx="4">
                  <c:v>Sprint 4</c:v>
                </c:pt>
                <c:pt idx="5">
                  <c:v>Sprint 5</c:v>
                </c:pt>
                <c:pt idx="6">
                  <c:v>Sprint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BB-184C-80D0-8E85B43F0F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ES" sz="1197" b="0" i="0" u="none" strike="noStrike" kern="1200" baseline="0" noProof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s-ES" noProof="0"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08/layout/LinedList" loCatId="cycle" qsTypeId="urn:microsoft.com/office/officeart/2005/8/quickstyle/simple3" qsCatId="simple" csTypeId="urn:microsoft.com/office/officeart/2005/8/colors/colorful2" csCatId="colorful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/>
      <dgm:spPr/>
      <dgm:t>
        <a:bodyPr rtlCol="0" anchor="ctr"/>
        <a:lstStyle/>
        <a:p>
          <a:pPr rtl="0"/>
          <a:r>
            <a:rPr lang="es-CO" b="1" dirty="0" err="1"/>
            <a:t>Must</a:t>
          </a:r>
          <a:r>
            <a:rPr lang="es-CO" b="1" dirty="0"/>
            <a:t> </a:t>
          </a:r>
          <a:r>
            <a:rPr lang="es-CO" b="1" dirty="0" err="1"/>
            <a:t>Have</a:t>
          </a:r>
          <a:br>
            <a:rPr lang="es-CO" dirty="0"/>
          </a:br>
          <a:r>
            <a:rPr lang="es-CO" dirty="0"/>
            <a:t>- Registro de horas mediante huella digital o </a:t>
          </a:r>
          <a:r>
            <a:rPr lang="es-CO" dirty="0" err="1"/>
            <a:t>login</a:t>
          </a:r>
          <a:r>
            <a:rPr lang="es-CO" dirty="0"/>
            <a:t> manual.</a:t>
          </a:r>
          <a:br>
            <a:rPr lang="es-CO" dirty="0"/>
          </a:br>
          <a:r>
            <a:rPr lang="es-CO" dirty="0"/>
            <a:t>- Validación de conflictos en los horarios.</a:t>
          </a:r>
          <a:br>
            <a:rPr lang="es-CO" dirty="0"/>
          </a:br>
          <a:r>
            <a:rPr lang="es-CO" dirty="0"/>
            <a:t>- Generación de la agenda profesoral en formato Excel.</a:t>
          </a:r>
          <a:br>
            <a:rPr lang="es-CO" dirty="0"/>
          </a:br>
          <a:r>
            <a:rPr lang="es-CO" dirty="0"/>
            <a:t>- Revisión y aprobación de la agenda por parte del director de programa.</a:t>
          </a:r>
          <a:endParaRPr lang="en-US" b="0" dirty="0"/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en-US" sz="700"/>
        </a:p>
      </dgm:t>
    </dgm:pt>
    <dgm:pt modelId="{808B76D0-8EC7-469A-93AC-7A6017188A9D}" type="sibTrans" cxnId="{C5E94186-9CB6-4C42-92B3-C546CC53A7B9}">
      <dgm:prSet phldrT="1"/>
      <dgm:spPr/>
      <dgm:t>
        <a:bodyPr rtlCol="0"/>
        <a:lstStyle/>
        <a:p>
          <a:pPr rtl="0"/>
          <a:endParaRPr lang="en-US"/>
        </a:p>
      </dgm:t>
    </dgm:pt>
    <dgm:pt modelId="{4E8D2E69-0173-4BD3-B96A-7A9C5DD12B47}">
      <dgm:prSet/>
      <dgm:spPr/>
      <dgm:t>
        <a:bodyPr rtlCol="0" anchor="ctr"/>
        <a:lstStyle/>
        <a:p>
          <a:pPr rtl="0"/>
          <a:r>
            <a:rPr lang="es-CO" b="1" dirty="0" err="1"/>
            <a:t>Should</a:t>
          </a:r>
          <a:r>
            <a:rPr lang="es-CO" b="1" dirty="0"/>
            <a:t> </a:t>
          </a:r>
          <a:r>
            <a:rPr lang="es-CO" b="1" dirty="0" err="1"/>
            <a:t>Have</a:t>
          </a:r>
          <a:r>
            <a:rPr lang="es-CO" b="1" dirty="0"/>
            <a:t> </a:t>
          </a:r>
          <a:br>
            <a:rPr lang="es-CO" dirty="0"/>
          </a:br>
          <a:r>
            <a:rPr lang="es-CO" dirty="0"/>
            <a:t>- Notificaciones automáticas sobre errores o conflictos en la agenda.</a:t>
          </a:r>
          <a:br>
            <a:rPr lang="es-CO" dirty="0"/>
          </a:br>
          <a:r>
            <a:rPr lang="es-CO" dirty="0"/>
            <a:t>- Integración con otros sistemas académicos.</a:t>
          </a:r>
          <a:br>
            <a:rPr lang="es-CO" dirty="0"/>
          </a:br>
          <a:r>
            <a:rPr lang="es-CO" dirty="0"/>
            <a:t>- Acceso a reportes de historial de agendas previas.</a:t>
          </a:r>
          <a:endParaRPr lang="en-US" dirty="0"/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en-US" sz="700"/>
        </a:p>
      </dgm:t>
    </dgm:pt>
    <dgm:pt modelId="{FEF1E80E-8A9E-4B0A-817C-2A4CFDCF3FB2}" type="sibTrans" cxnId="{0F866C41-EB5F-47BD-A2CD-A58671F15B67}">
      <dgm:prSet phldrT="2"/>
      <dgm:spPr/>
      <dgm:t>
        <a:bodyPr rtlCol="0"/>
        <a:lstStyle/>
        <a:p>
          <a:pPr rtl="0"/>
          <a:endParaRPr lang="en-US"/>
        </a:p>
      </dgm:t>
    </dgm:pt>
    <dgm:pt modelId="{93A6A030-ABAB-4EFA-B539-0FDB3E07C1EF}">
      <dgm:prSet/>
      <dgm:spPr/>
      <dgm:t>
        <a:bodyPr rtlCol="0" anchor="ctr"/>
        <a:lstStyle/>
        <a:p>
          <a:pPr rtl="0"/>
          <a:r>
            <a:rPr lang="es-CO" b="1" dirty="0" err="1"/>
            <a:t>Could</a:t>
          </a:r>
          <a:r>
            <a:rPr lang="es-CO" b="1" dirty="0"/>
            <a:t> </a:t>
          </a:r>
          <a:r>
            <a:rPr lang="es-CO" b="1" dirty="0" err="1"/>
            <a:t>Have</a:t>
          </a:r>
          <a:r>
            <a:rPr lang="es-CO" b="1" dirty="0"/>
            <a:t> </a:t>
          </a:r>
          <a:endParaRPr lang="es-CO" dirty="0"/>
        </a:p>
        <a:p>
          <a:r>
            <a:rPr lang="es-CO" dirty="0"/>
            <a:t>- </a:t>
          </a:r>
          <a:r>
            <a:rPr lang="es-CO" dirty="0" err="1"/>
            <a:t>Login</a:t>
          </a:r>
          <a:r>
            <a:rPr lang="es-CO" dirty="0"/>
            <a:t> institucional con autenticación integrada.</a:t>
          </a:r>
          <a:br>
            <a:rPr lang="es-CO" dirty="0"/>
          </a:br>
          <a:r>
            <a:rPr lang="es-CO" dirty="0"/>
            <a:t>- Interfaz gráfica con diseño intuitivo.</a:t>
          </a:r>
          <a:br>
            <a:rPr lang="es-CO" dirty="0"/>
          </a:br>
          <a:r>
            <a:rPr lang="es-CO" dirty="0"/>
            <a:t>- Personalización de horarios y asignaturas.</a:t>
          </a:r>
          <a:br>
            <a:rPr lang="es-CO" dirty="0"/>
          </a:br>
          <a:r>
            <a:rPr lang="es-CO" dirty="0"/>
            <a:t>- Soporte multilingüe.</a:t>
          </a:r>
          <a:endParaRPr lang="en-US" dirty="0"/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en-US" sz="700"/>
        </a:p>
      </dgm:t>
    </dgm:pt>
    <dgm:pt modelId="{BFE0749E-E343-4A6F-BD09-2810EE6B4BD7}" type="sibTrans" cxnId="{4B40C8DC-6B57-4F5B-8440-7241C649700B}">
      <dgm:prSet phldrT="3"/>
      <dgm:spPr/>
      <dgm:t>
        <a:bodyPr rtlCol="0"/>
        <a:lstStyle/>
        <a:p>
          <a:pPr rtl="0"/>
          <a:endParaRPr lang="en-US"/>
        </a:p>
      </dgm:t>
    </dgm:pt>
    <dgm:pt modelId="{59DC32FB-54FD-4EA1-A9D3-2E4794F4FA65}">
      <dgm:prSet/>
      <dgm:spPr/>
      <dgm:t>
        <a:bodyPr/>
        <a:lstStyle/>
        <a:p>
          <a:r>
            <a:rPr lang="es-CO" b="1"/>
            <a:t>Won’t Have</a:t>
          </a:r>
          <a:br>
            <a:rPr lang="es-CO"/>
          </a:br>
          <a:r>
            <a:rPr lang="es-CO"/>
            <a:t>- Soporte para otros formatos de agenda (solo se usará Excel).</a:t>
          </a:r>
          <a:br>
            <a:rPr lang="es-CO"/>
          </a:br>
          <a:r>
            <a:rPr lang="es-CO"/>
            <a:t>- Integración con asistentes virtuales o chatbots.</a:t>
          </a:r>
          <a:br>
            <a:rPr lang="es-CO"/>
          </a:br>
          <a:r>
            <a:rPr lang="es-CO"/>
            <a:t>- Aplicación móvil (solo versión web en esta fase).</a:t>
          </a:r>
          <a:endParaRPr lang="en-US" dirty="0"/>
        </a:p>
      </dgm:t>
    </dgm:pt>
    <dgm:pt modelId="{845E7519-5C93-4B54-B00B-AD7DC12AFF5A}" type="parTrans" cxnId="{38031009-2ABF-4D8C-B3DB-BBD46C3D7C92}">
      <dgm:prSet/>
      <dgm:spPr/>
      <dgm:t>
        <a:bodyPr/>
        <a:lstStyle/>
        <a:p>
          <a:endParaRPr lang="es-CO"/>
        </a:p>
      </dgm:t>
    </dgm:pt>
    <dgm:pt modelId="{134E8A19-B868-4080-89B2-5F9780A7BC1B}" type="sibTrans" cxnId="{38031009-2ABF-4D8C-B3DB-BBD46C3D7C92}">
      <dgm:prSet/>
      <dgm:spPr/>
      <dgm:t>
        <a:bodyPr/>
        <a:lstStyle/>
        <a:p>
          <a:endParaRPr lang="es-CO"/>
        </a:p>
      </dgm:t>
    </dgm:pt>
    <dgm:pt modelId="{05CB8F5C-D395-AD40-BBD9-53369BE84640}" type="pres">
      <dgm:prSet presAssocID="{D4503D04-C97E-4622-AE07-D0307CB3B4CA}" presName="vert0" presStyleCnt="0">
        <dgm:presLayoutVars>
          <dgm:dir/>
          <dgm:animOne val="branch"/>
          <dgm:animLvl val="lvl"/>
        </dgm:presLayoutVars>
      </dgm:prSet>
      <dgm:spPr/>
    </dgm:pt>
    <dgm:pt modelId="{15F5B303-C42A-0F46-B1B4-9FC2C90E8F5B}" type="pres">
      <dgm:prSet presAssocID="{AAC263CB-8256-4B03-92FE-1622698FB3E9}" presName="thickLine" presStyleLbl="alignNode1" presStyleIdx="0" presStyleCnt="4"/>
      <dgm:spPr/>
    </dgm:pt>
    <dgm:pt modelId="{8991E26A-5377-6C4C-8ACE-EF7A7F0A5D91}" type="pres">
      <dgm:prSet presAssocID="{AAC263CB-8256-4B03-92FE-1622698FB3E9}" presName="horz1" presStyleCnt="0"/>
      <dgm:spPr/>
    </dgm:pt>
    <dgm:pt modelId="{ADE9C513-F9D6-7C40-9628-67B2B6D9AAB3}" type="pres">
      <dgm:prSet presAssocID="{AAC263CB-8256-4B03-92FE-1622698FB3E9}" presName="tx1" presStyleLbl="revTx" presStyleIdx="0" presStyleCnt="4"/>
      <dgm:spPr/>
    </dgm:pt>
    <dgm:pt modelId="{5EBEDC1B-DA6E-E346-9EA8-82F9E7C92E5D}" type="pres">
      <dgm:prSet presAssocID="{AAC263CB-8256-4B03-92FE-1622698FB3E9}" presName="vert1" presStyleCnt="0"/>
      <dgm:spPr/>
    </dgm:pt>
    <dgm:pt modelId="{B6682269-A845-6E41-9BE5-F15128675201}" type="pres">
      <dgm:prSet presAssocID="{4E8D2E69-0173-4BD3-B96A-7A9C5DD12B47}" presName="thickLine" presStyleLbl="alignNode1" presStyleIdx="1" presStyleCnt="4"/>
      <dgm:spPr/>
    </dgm:pt>
    <dgm:pt modelId="{B6250893-DD69-9641-83FE-37FE4BA6A95F}" type="pres">
      <dgm:prSet presAssocID="{4E8D2E69-0173-4BD3-B96A-7A9C5DD12B47}" presName="horz1" presStyleCnt="0"/>
      <dgm:spPr/>
    </dgm:pt>
    <dgm:pt modelId="{C98F729D-14CA-1448-A52F-24A02E051745}" type="pres">
      <dgm:prSet presAssocID="{4E8D2E69-0173-4BD3-B96A-7A9C5DD12B47}" presName="tx1" presStyleLbl="revTx" presStyleIdx="1" presStyleCnt="4"/>
      <dgm:spPr/>
    </dgm:pt>
    <dgm:pt modelId="{A5761775-219E-F647-B0FE-73507CBA0C1C}" type="pres">
      <dgm:prSet presAssocID="{4E8D2E69-0173-4BD3-B96A-7A9C5DD12B47}" presName="vert1" presStyleCnt="0"/>
      <dgm:spPr/>
    </dgm:pt>
    <dgm:pt modelId="{D1894A20-DB91-634C-8782-9C8A13103FF6}" type="pres">
      <dgm:prSet presAssocID="{93A6A030-ABAB-4EFA-B539-0FDB3E07C1EF}" presName="thickLine" presStyleLbl="alignNode1" presStyleIdx="2" presStyleCnt="4"/>
      <dgm:spPr/>
    </dgm:pt>
    <dgm:pt modelId="{853F3E66-3B0E-C841-98D5-6802A7A2E4A8}" type="pres">
      <dgm:prSet presAssocID="{93A6A030-ABAB-4EFA-B539-0FDB3E07C1EF}" presName="horz1" presStyleCnt="0"/>
      <dgm:spPr/>
    </dgm:pt>
    <dgm:pt modelId="{B705F7BA-757C-6549-9C73-2326015D6723}" type="pres">
      <dgm:prSet presAssocID="{93A6A030-ABAB-4EFA-B539-0FDB3E07C1EF}" presName="tx1" presStyleLbl="revTx" presStyleIdx="2" presStyleCnt="4"/>
      <dgm:spPr/>
    </dgm:pt>
    <dgm:pt modelId="{9AF48A18-E74E-3E43-BCF5-5CD009AF2410}" type="pres">
      <dgm:prSet presAssocID="{93A6A030-ABAB-4EFA-B539-0FDB3E07C1EF}" presName="vert1" presStyleCnt="0"/>
      <dgm:spPr/>
    </dgm:pt>
    <dgm:pt modelId="{838B3C8B-8F45-4190-84B3-DF78DCD94F01}" type="pres">
      <dgm:prSet presAssocID="{59DC32FB-54FD-4EA1-A9D3-2E4794F4FA65}" presName="thickLine" presStyleLbl="alignNode1" presStyleIdx="3" presStyleCnt="4"/>
      <dgm:spPr/>
    </dgm:pt>
    <dgm:pt modelId="{74648845-59B6-4C3A-9CA0-27CCBA28696B}" type="pres">
      <dgm:prSet presAssocID="{59DC32FB-54FD-4EA1-A9D3-2E4794F4FA65}" presName="horz1" presStyleCnt="0"/>
      <dgm:spPr/>
    </dgm:pt>
    <dgm:pt modelId="{23EB0E0A-60FC-4DB3-952A-C3FB7B8D89ED}" type="pres">
      <dgm:prSet presAssocID="{59DC32FB-54FD-4EA1-A9D3-2E4794F4FA65}" presName="tx1" presStyleLbl="revTx" presStyleIdx="3" presStyleCnt="4"/>
      <dgm:spPr/>
    </dgm:pt>
    <dgm:pt modelId="{78BB8EBB-8D9E-4609-80D2-A554593AED3C}" type="pres">
      <dgm:prSet presAssocID="{59DC32FB-54FD-4EA1-A9D3-2E4794F4FA65}" presName="vert1" presStyleCnt="0"/>
      <dgm:spPr/>
    </dgm:pt>
  </dgm:ptLst>
  <dgm:cxnLst>
    <dgm:cxn modelId="{38031009-2ABF-4D8C-B3DB-BBD46C3D7C92}" srcId="{D4503D04-C97E-4622-AE07-D0307CB3B4CA}" destId="{59DC32FB-54FD-4EA1-A9D3-2E4794F4FA65}" srcOrd="3" destOrd="0" parTransId="{845E7519-5C93-4B54-B00B-AD7DC12AFF5A}" sibTransId="{134E8A19-B868-4080-89B2-5F9780A7BC1B}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AF738A4F-EA25-4A39-A27B-396D01D85F04}" type="presOf" srcId="{59DC32FB-54FD-4EA1-A9D3-2E4794F4FA65}" destId="{23EB0E0A-60FC-4DB3-952A-C3FB7B8D89ED}" srcOrd="0" destOrd="0" presId="urn:microsoft.com/office/officeart/2008/layout/LinedList"/>
    <dgm:cxn modelId="{B961F658-1A01-419D-8829-C19CF33B683E}" type="presOf" srcId="{D4503D04-C97E-4622-AE07-D0307CB3B4CA}" destId="{05CB8F5C-D395-AD40-BBD9-53369BE84640}" srcOrd="0" destOrd="0" presId="urn:microsoft.com/office/officeart/2008/layout/LinedList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1C480D9B-BFFF-487A-A296-1909F8771784}" type="presOf" srcId="{93A6A030-ABAB-4EFA-B539-0FDB3E07C1EF}" destId="{B705F7BA-757C-6549-9C73-2326015D6723}" srcOrd="0" destOrd="0" presId="urn:microsoft.com/office/officeart/2008/layout/LinedList"/>
    <dgm:cxn modelId="{6B5095C9-0410-4AA3-B27B-9F5461D584A9}" type="presOf" srcId="{AAC263CB-8256-4B03-92FE-1622698FB3E9}" destId="{ADE9C513-F9D6-7C40-9628-67B2B6D9AAB3}" srcOrd="0" destOrd="0" presId="urn:microsoft.com/office/officeart/2008/layout/LinedList"/>
    <dgm:cxn modelId="{5DCD85D4-C9AC-4FF9-8CF7-75A1DB339DF0}" type="presOf" srcId="{4E8D2E69-0173-4BD3-B96A-7A9C5DD12B47}" destId="{C98F729D-14CA-1448-A52F-24A02E051745}" srcOrd="0" destOrd="0" presId="urn:microsoft.com/office/officeart/2008/layout/LinedList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305B609F-F4D4-467A-8D6C-0CE8327B5064}" type="presParOf" srcId="{05CB8F5C-D395-AD40-BBD9-53369BE84640}" destId="{15F5B303-C42A-0F46-B1B4-9FC2C90E8F5B}" srcOrd="0" destOrd="0" presId="urn:microsoft.com/office/officeart/2008/layout/LinedList"/>
    <dgm:cxn modelId="{1FF3B57A-B3B2-47B4-BF99-6BF3AE14355A}" type="presParOf" srcId="{05CB8F5C-D395-AD40-BBD9-53369BE84640}" destId="{8991E26A-5377-6C4C-8ACE-EF7A7F0A5D91}" srcOrd="1" destOrd="0" presId="urn:microsoft.com/office/officeart/2008/layout/LinedList"/>
    <dgm:cxn modelId="{CD6252FF-5568-41D9-9B28-4FA46E8379E2}" type="presParOf" srcId="{8991E26A-5377-6C4C-8ACE-EF7A7F0A5D91}" destId="{ADE9C513-F9D6-7C40-9628-67B2B6D9AAB3}" srcOrd="0" destOrd="0" presId="urn:microsoft.com/office/officeart/2008/layout/LinedList"/>
    <dgm:cxn modelId="{0C3480C7-7EF3-4C7D-9287-C263F3299DD2}" type="presParOf" srcId="{8991E26A-5377-6C4C-8ACE-EF7A7F0A5D91}" destId="{5EBEDC1B-DA6E-E346-9EA8-82F9E7C92E5D}" srcOrd="1" destOrd="0" presId="urn:microsoft.com/office/officeart/2008/layout/LinedList"/>
    <dgm:cxn modelId="{3F16D9FD-91FC-4C5A-990C-0E6B40BC39BE}" type="presParOf" srcId="{05CB8F5C-D395-AD40-BBD9-53369BE84640}" destId="{B6682269-A845-6E41-9BE5-F15128675201}" srcOrd="2" destOrd="0" presId="urn:microsoft.com/office/officeart/2008/layout/LinedList"/>
    <dgm:cxn modelId="{93551DAF-37A9-4B0F-88D7-C532A565C645}" type="presParOf" srcId="{05CB8F5C-D395-AD40-BBD9-53369BE84640}" destId="{B6250893-DD69-9641-83FE-37FE4BA6A95F}" srcOrd="3" destOrd="0" presId="urn:microsoft.com/office/officeart/2008/layout/LinedList"/>
    <dgm:cxn modelId="{43B49782-15C2-457E-B349-A76A5BAAE1D0}" type="presParOf" srcId="{B6250893-DD69-9641-83FE-37FE4BA6A95F}" destId="{C98F729D-14CA-1448-A52F-24A02E051745}" srcOrd="0" destOrd="0" presId="urn:microsoft.com/office/officeart/2008/layout/LinedList"/>
    <dgm:cxn modelId="{13E09BE0-0395-431C-8941-FB9DA6C3A9C0}" type="presParOf" srcId="{B6250893-DD69-9641-83FE-37FE4BA6A95F}" destId="{A5761775-219E-F647-B0FE-73507CBA0C1C}" srcOrd="1" destOrd="0" presId="urn:microsoft.com/office/officeart/2008/layout/LinedList"/>
    <dgm:cxn modelId="{7C47D258-CADF-4379-ACB0-53035ABF9896}" type="presParOf" srcId="{05CB8F5C-D395-AD40-BBD9-53369BE84640}" destId="{D1894A20-DB91-634C-8782-9C8A13103FF6}" srcOrd="4" destOrd="0" presId="urn:microsoft.com/office/officeart/2008/layout/LinedList"/>
    <dgm:cxn modelId="{52191ABC-F4E2-49BC-8DF8-7052F5A8B576}" type="presParOf" srcId="{05CB8F5C-D395-AD40-BBD9-53369BE84640}" destId="{853F3E66-3B0E-C841-98D5-6802A7A2E4A8}" srcOrd="5" destOrd="0" presId="urn:microsoft.com/office/officeart/2008/layout/LinedList"/>
    <dgm:cxn modelId="{380DD7A1-93C9-4F55-AC16-9C70BD97C3A4}" type="presParOf" srcId="{853F3E66-3B0E-C841-98D5-6802A7A2E4A8}" destId="{B705F7BA-757C-6549-9C73-2326015D6723}" srcOrd="0" destOrd="0" presId="urn:microsoft.com/office/officeart/2008/layout/LinedList"/>
    <dgm:cxn modelId="{C1A29389-0FA5-45C7-9310-044A512177EB}" type="presParOf" srcId="{853F3E66-3B0E-C841-98D5-6802A7A2E4A8}" destId="{9AF48A18-E74E-3E43-BCF5-5CD009AF2410}" srcOrd="1" destOrd="0" presId="urn:microsoft.com/office/officeart/2008/layout/LinedList"/>
    <dgm:cxn modelId="{80A20548-3297-48DC-A315-11CB923C8560}" type="presParOf" srcId="{05CB8F5C-D395-AD40-BBD9-53369BE84640}" destId="{838B3C8B-8F45-4190-84B3-DF78DCD94F01}" srcOrd="6" destOrd="0" presId="urn:microsoft.com/office/officeart/2008/layout/LinedList"/>
    <dgm:cxn modelId="{58685F1A-0BE9-4C83-8A76-1B4A59217328}" type="presParOf" srcId="{05CB8F5C-D395-AD40-BBD9-53369BE84640}" destId="{74648845-59B6-4C3A-9CA0-27CCBA28696B}" srcOrd="7" destOrd="0" presId="urn:microsoft.com/office/officeart/2008/layout/LinedList"/>
    <dgm:cxn modelId="{8D94CE45-F550-4A57-ABBB-8711C1AE6C7E}" type="presParOf" srcId="{74648845-59B6-4C3A-9CA0-27CCBA28696B}" destId="{23EB0E0A-60FC-4DB3-952A-C3FB7B8D89ED}" srcOrd="0" destOrd="0" presId="urn:microsoft.com/office/officeart/2008/layout/LinedList"/>
    <dgm:cxn modelId="{B8C11060-2428-4855-A4EF-8FDAE48B914B}" type="presParOf" srcId="{74648845-59B6-4C3A-9CA0-27CCBA28696B}" destId="{78BB8EBB-8D9E-4609-80D2-A554593AED3C}" srcOrd="1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5B303-C42A-0F46-B1B4-9FC2C90E8F5B}">
      <dsp:nvSpPr>
        <dsp:cNvPr id="0" name=""/>
        <dsp:cNvSpPr/>
      </dsp:nvSpPr>
      <dsp:spPr>
        <a:xfrm>
          <a:off x="0" y="0"/>
          <a:ext cx="6589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DE9C513-F9D6-7C40-9628-67B2B6D9AAB3}">
      <dsp:nvSpPr>
        <dsp:cNvPr id="0" name=""/>
        <dsp:cNvSpPr/>
      </dsp:nvSpPr>
      <dsp:spPr>
        <a:xfrm>
          <a:off x="0" y="0"/>
          <a:ext cx="6589785" cy="12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 err="1"/>
            <a:t>Must</a:t>
          </a:r>
          <a:r>
            <a:rPr lang="es-CO" sz="1400" b="1" kern="1200" dirty="0"/>
            <a:t> </a:t>
          </a:r>
          <a:r>
            <a:rPr lang="es-CO" sz="1400" b="1" kern="1200" dirty="0" err="1"/>
            <a:t>Have</a:t>
          </a:r>
          <a:br>
            <a:rPr lang="es-CO" sz="1400" kern="1200" dirty="0"/>
          </a:br>
          <a:r>
            <a:rPr lang="es-CO" sz="1400" kern="1200" dirty="0"/>
            <a:t>- Registro de horas mediante huella digital o </a:t>
          </a:r>
          <a:r>
            <a:rPr lang="es-CO" sz="1400" kern="1200" dirty="0" err="1"/>
            <a:t>login</a:t>
          </a:r>
          <a:r>
            <a:rPr lang="es-CO" sz="1400" kern="1200" dirty="0"/>
            <a:t> manual.</a:t>
          </a:r>
          <a:br>
            <a:rPr lang="es-CO" sz="1400" kern="1200" dirty="0"/>
          </a:br>
          <a:r>
            <a:rPr lang="es-CO" sz="1400" kern="1200" dirty="0"/>
            <a:t>- Validación de conflictos en los horarios.</a:t>
          </a:r>
          <a:br>
            <a:rPr lang="es-CO" sz="1400" kern="1200" dirty="0"/>
          </a:br>
          <a:r>
            <a:rPr lang="es-CO" sz="1400" kern="1200" dirty="0"/>
            <a:t>- Generación de la agenda profesoral en formato Excel.</a:t>
          </a:r>
          <a:br>
            <a:rPr lang="es-CO" sz="1400" kern="1200" dirty="0"/>
          </a:br>
          <a:r>
            <a:rPr lang="es-CO" sz="1400" kern="1200" dirty="0"/>
            <a:t>- Revisión y aprobación de la agenda por parte del director de programa.</a:t>
          </a:r>
          <a:endParaRPr lang="en-US" sz="1400" b="0" kern="1200" dirty="0"/>
        </a:p>
      </dsp:txBody>
      <dsp:txXfrm>
        <a:off x="0" y="0"/>
        <a:ext cx="6589785" cy="1287840"/>
      </dsp:txXfrm>
    </dsp:sp>
    <dsp:sp modelId="{B6682269-A845-6E41-9BE5-F15128675201}">
      <dsp:nvSpPr>
        <dsp:cNvPr id="0" name=""/>
        <dsp:cNvSpPr/>
      </dsp:nvSpPr>
      <dsp:spPr>
        <a:xfrm>
          <a:off x="0" y="1287840"/>
          <a:ext cx="6589785" cy="0"/>
        </a:xfrm>
        <a:prstGeom prst="line">
          <a:avLst/>
        </a:prstGeom>
        <a:solidFill>
          <a:schemeClr val="accent2">
            <a:hueOff val="-2550160"/>
            <a:satOff val="-3760"/>
            <a:lumOff val="-262"/>
            <a:alphaOff val="0"/>
          </a:schemeClr>
        </a:solidFill>
        <a:ln w="9525" cap="rnd" cmpd="sng" algn="ctr">
          <a:solidFill>
            <a:schemeClr val="accent2">
              <a:hueOff val="-2550160"/>
              <a:satOff val="-3760"/>
              <a:lumOff val="-2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8F729D-14CA-1448-A52F-24A02E051745}">
      <dsp:nvSpPr>
        <dsp:cNvPr id="0" name=""/>
        <dsp:cNvSpPr/>
      </dsp:nvSpPr>
      <dsp:spPr>
        <a:xfrm>
          <a:off x="0" y="1287840"/>
          <a:ext cx="6589785" cy="12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 err="1"/>
            <a:t>Should</a:t>
          </a:r>
          <a:r>
            <a:rPr lang="es-CO" sz="1400" b="1" kern="1200" dirty="0"/>
            <a:t> </a:t>
          </a:r>
          <a:r>
            <a:rPr lang="es-CO" sz="1400" b="1" kern="1200" dirty="0" err="1"/>
            <a:t>Have</a:t>
          </a:r>
          <a:r>
            <a:rPr lang="es-CO" sz="1400" b="1" kern="1200" dirty="0"/>
            <a:t> </a:t>
          </a:r>
          <a:br>
            <a:rPr lang="es-CO" sz="1400" kern="1200" dirty="0"/>
          </a:br>
          <a:r>
            <a:rPr lang="es-CO" sz="1400" kern="1200" dirty="0"/>
            <a:t>- Notificaciones automáticas sobre errores o conflictos en la agenda.</a:t>
          </a:r>
          <a:br>
            <a:rPr lang="es-CO" sz="1400" kern="1200" dirty="0"/>
          </a:br>
          <a:r>
            <a:rPr lang="es-CO" sz="1400" kern="1200" dirty="0"/>
            <a:t>- Integración con otros sistemas académicos.</a:t>
          </a:r>
          <a:br>
            <a:rPr lang="es-CO" sz="1400" kern="1200" dirty="0"/>
          </a:br>
          <a:r>
            <a:rPr lang="es-CO" sz="1400" kern="1200" dirty="0"/>
            <a:t>- Acceso a reportes de historial de agendas previas.</a:t>
          </a:r>
          <a:endParaRPr lang="en-US" sz="1400" kern="1200" dirty="0"/>
        </a:p>
      </dsp:txBody>
      <dsp:txXfrm>
        <a:off x="0" y="1287840"/>
        <a:ext cx="6589785" cy="1287840"/>
      </dsp:txXfrm>
    </dsp:sp>
    <dsp:sp modelId="{D1894A20-DB91-634C-8782-9C8A13103FF6}">
      <dsp:nvSpPr>
        <dsp:cNvPr id="0" name=""/>
        <dsp:cNvSpPr/>
      </dsp:nvSpPr>
      <dsp:spPr>
        <a:xfrm>
          <a:off x="0" y="2575680"/>
          <a:ext cx="6589785" cy="0"/>
        </a:xfrm>
        <a:prstGeom prst="line">
          <a:avLst/>
        </a:prstGeom>
        <a:solidFill>
          <a:schemeClr val="accent2">
            <a:hueOff val="-5100320"/>
            <a:satOff val="-7520"/>
            <a:lumOff val="-523"/>
            <a:alphaOff val="0"/>
          </a:schemeClr>
        </a:solidFill>
        <a:ln w="9525" cap="rnd" cmpd="sng" algn="ctr">
          <a:solidFill>
            <a:schemeClr val="accent2">
              <a:hueOff val="-5100320"/>
              <a:satOff val="-7520"/>
              <a:lumOff val="-5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705F7BA-757C-6549-9C73-2326015D6723}">
      <dsp:nvSpPr>
        <dsp:cNvPr id="0" name=""/>
        <dsp:cNvSpPr/>
      </dsp:nvSpPr>
      <dsp:spPr>
        <a:xfrm>
          <a:off x="0" y="2575680"/>
          <a:ext cx="6589785" cy="12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rtlCol="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 err="1"/>
            <a:t>Could</a:t>
          </a:r>
          <a:r>
            <a:rPr lang="es-CO" sz="1400" b="1" kern="1200" dirty="0"/>
            <a:t> </a:t>
          </a:r>
          <a:r>
            <a:rPr lang="es-CO" sz="1400" b="1" kern="1200" dirty="0" err="1"/>
            <a:t>Have</a:t>
          </a:r>
          <a:r>
            <a:rPr lang="es-CO" sz="1400" b="1" kern="1200" dirty="0"/>
            <a:t> </a:t>
          </a:r>
          <a:endParaRPr lang="es-CO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- </a:t>
          </a:r>
          <a:r>
            <a:rPr lang="es-CO" sz="1400" kern="1200" dirty="0" err="1"/>
            <a:t>Login</a:t>
          </a:r>
          <a:r>
            <a:rPr lang="es-CO" sz="1400" kern="1200" dirty="0"/>
            <a:t> institucional con autenticación integrada.</a:t>
          </a:r>
          <a:br>
            <a:rPr lang="es-CO" sz="1400" kern="1200" dirty="0"/>
          </a:br>
          <a:r>
            <a:rPr lang="es-CO" sz="1400" kern="1200" dirty="0"/>
            <a:t>- Interfaz gráfica con diseño intuitivo.</a:t>
          </a:r>
          <a:br>
            <a:rPr lang="es-CO" sz="1400" kern="1200" dirty="0"/>
          </a:br>
          <a:r>
            <a:rPr lang="es-CO" sz="1400" kern="1200" dirty="0"/>
            <a:t>- Personalización de horarios y asignaturas.</a:t>
          </a:r>
          <a:br>
            <a:rPr lang="es-CO" sz="1400" kern="1200" dirty="0"/>
          </a:br>
          <a:r>
            <a:rPr lang="es-CO" sz="1400" kern="1200" dirty="0"/>
            <a:t>- Soporte multilingüe.</a:t>
          </a:r>
          <a:endParaRPr lang="en-US" sz="1400" kern="1200" dirty="0"/>
        </a:p>
      </dsp:txBody>
      <dsp:txXfrm>
        <a:off x="0" y="2575680"/>
        <a:ext cx="6589785" cy="1287840"/>
      </dsp:txXfrm>
    </dsp:sp>
    <dsp:sp modelId="{838B3C8B-8F45-4190-84B3-DF78DCD94F01}">
      <dsp:nvSpPr>
        <dsp:cNvPr id="0" name=""/>
        <dsp:cNvSpPr/>
      </dsp:nvSpPr>
      <dsp:spPr>
        <a:xfrm>
          <a:off x="0" y="3863521"/>
          <a:ext cx="6589785" cy="0"/>
        </a:xfrm>
        <a:prstGeom prst="line">
          <a:avLst/>
        </a:prstGeom>
        <a:solidFill>
          <a:schemeClr val="accent2">
            <a:hueOff val="-7650481"/>
            <a:satOff val="-11280"/>
            <a:lumOff val="-785"/>
            <a:alphaOff val="0"/>
          </a:schemeClr>
        </a:solidFill>
        <a:ln w="9525" cap="rnd" cmpd="sng" algn="ctr">
          <a:solidFill>
            <a:schemeClr val="accent2">
              <a:hueOff val="-7650481"/>
              <a:satOff val="-11280"/>
              <a:lumOff val="-7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EB0E0A-60FC-4DB3-952A-C3FB7B8D89ED}">
      <dsp:nvSpPr>
        <dsp:cNvPr id="0" name=""/>
        <dsp:cNvSpPr/>
      </dsp:nvSpPr>
      <dsp:spPr>
        <a:xfrm>
          <a:off x="0" y="3863521"/>
          <a:ext cx="6589785" cy="1287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/>
            <a:t>Won’t Have</a:t>
          </a:r>
          <a:br>
            <a:rPr lang="es-CO" sz="1400" kern="1200"/>
          </a:br>
          <a:r>
            <a:rPr lang="es-CO" sz="1400" kern="1200"/>
            <a:t>- Soporte para otros formatos de agenda (solo se usará Excel).</a:t>
          </a:r>
          <a:br>
            <a:rPr lang="es-CO" sz="1400" kern="1200"/>
          </a:br>
          <a:r>
            <a:rPr lang="es-CO" sz="1400" kern="1200"/>
            <a:t>- Integración con asistentes virtuales o chatbots.</a:t>
          </a:r>
          <a:br>
            <a:rPr lang="es-CO" sz="1400" kern="1200"/>
          </a:br>
          <a:r>
            <a:rPr lang="es-CO" sz="1400" kern="1200"/>
            <a:t>- Aplicación móvil (solo versión web en esta fase).</a:t>
          </a:r>
          <a:endParaRPr lang="en-US" sz="1400" kern="1200" dirty="0"/>
        </a:p>
      </dsp:txBody>
      <dsp:txXfrm>
        <a:off x="0" y="3863521"/>
        <a:ext cx="6589785" cy="1287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416CFB3-C14B-49CD-98C3-11D097D5E2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9E176A-0D50-4C92-9039-E405CAC61B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3A98F-C29B-49AD-907E-985CCD2FD3E8}" type="datetimeFigureOut">
              <a:rPr lang="es-ES" smtClean="0"/>
              <a:t>12/03/2025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D4C4A9-52E8-4AFA-AB29-8733208321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7D54D0-712A-4805-B831-0B7F0D1C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E28BC-8308-47DB-B674-21A9A34403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63140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FD6D5-AD92-4BCC-9FA0-B62445789749}" type="datetimeFigureOut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8C6BF-2692-4097-8EE9-E7DEDCC05BD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725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69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96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791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79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8580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870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837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310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579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8C6BF-2692-4097-8EE9-E7DEDCC05BD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3437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589213" y="2514600"/>
            <a:ext cx="8915399" cy="2262781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410490-006E-4B05-A48E-17D995342ABD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Forma libre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92925" y="624110"/>
            <a:ext cx="8911687" cy="128089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684FA3-08A7-4A65-9B7B-41CDD35CB114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8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89212" y="2058750"/>
            <a:ext cx="8915399" cy="146880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98EF8D-3541-42B2-80AF-9963F6836CDB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03123-761E-4606-B91B-D08A04F76BA5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7803F1-CDB2-47CD-951F-5DCB28963BBF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2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34A506-8FF1-48DA-AC47-56B136F214DB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3CF8DD-1A35-4605-8A98-72B2E4351552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rtlCol="0" anchor="b"/>
          <a:lstStyle>
            <a:lvl1pPr algn="l">
              <a:defRPr sz="2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rtlCol="0" anchor="ctr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B67413-A30F-44E3-A04D-4954ACEE68A6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89213" y="4800600"/>
            <a:ext cx="89154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8CA96-60F9-48C9-9136-09F3490838B5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89212" y="609600"/>
            <a:ext cx="8915399" cy="311704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AC96BC-E724-418A-B191-AA051050F973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13" name="Marcador de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BAE9D6-D269-4492-8C22-D86B00273C1C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Forma libre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4" name="Cuadro de texto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es-ES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Cuadro de texto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es-ES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89213" y="2438400"/>
            <a:ext cx="8915400" cy="2724845"/>
          </a:xfrm>
        </p:spPr>
        <p:txBody>
          <a:bodyPr rtlCol="0" anchor="b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254EA3-94E0-403A-869E-595B0DA79EDE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21" name="Marcador de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98483B-75A0-433F-B8FA-BA33782AB1DF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Forma lib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7" name="Cuadro de texto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es-ES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Cuadro de texto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es-ES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rtlCol="0" anchor="ctr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1" name="Marcador de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009512-D3C1-4E07-B993-96A862BC338C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Forma libre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4F5FD-9B8D-4245-8319-A1FAC5F4EEDF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8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294812" y="627405"/>
            <a:ext cx="2207601" cy="5283817"/>
          </a:xfrm>
        </p:spPr>
        <p:txBody>
          <a:bodyPr vert="eaVert" rtlCol="0" anchor="ctr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EAE515-F4D8-4121-8C01-CB99E9FAE84F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8" name="Forma libre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orma libre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orma libre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orma libre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orma libre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orma libre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orma libre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orma libre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orma libre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orma libre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orma libre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orma libre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orma libre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upo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orma libre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orma libre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orma libre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orma libre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orma libre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orma libre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orma libre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orma libre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orma libre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orma libre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orma libre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orma libre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ángulo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35A204E-EDFC-419D-A14D-D3DD07B12160}" type="datetime1">
              <a:rPr lang="es-ES" noProof="0" smtClean="0"/>
              <a:t>12/03/2025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jdguzman-2024b@corhuila.edu.co" TargetMode="External"/><Relationship Id="rId4" Type="http://schemas.openxmlformats.org/officeDocument/2006/relationships/hyperlink" Target="mailto:jchavarro-2021b@corhuila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ángulo 17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puntos claros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Presentación Planteamiento del Problema</a:t>
            </a:r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F05262DB-6398-4AF9-96A3-041CFB112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Julián Steven Chavarro</a:t>
            </a:r>
          </a:p>
          <a:p>
            <a:pPr rtl="0"/>
            <a:r>
              <a:rPr lang="es-ES" dirty="0"/>
              <a:t>Juan David Guzmán </a:t>
            </a:r>
            <a:r>
              <a:rPr lang="es-ES" dirty="0" err="1"/>
              <a:t>Lavao</a:t>
            </a:r>
            <a:endParaRPr lang="es-ES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1" name="Forma libre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orma libre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orma libre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orma libre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orma libre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orma libre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orma libre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orma libre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orma libre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orma libre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orma libre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orma libre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5" name="Forma libre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orma libre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orma libre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orma libre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orma libre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orma libre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orma libre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orma libre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orma libre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orma libre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orma libre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orma libre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Forma libre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ángulo 32">
            <a:extLst>
              <a:ext uri="{FF2B5EF4-FFF2-40B4-BE49-F238E27FC236}">
                <a16:creationId xmlns:a16="http://schemas.microsoft.com/office/drawing/2014/main" id="{A9D17E3F-9160-4D16-8F1D-F8FE94E2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s-ES" dirty="0"/>
          </a:p>
        </p:txBody>
      </p:sp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Planificación del Problema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93DBB853-C277-42C7-80D0-110A8842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6" name="Forma libre 11">
              <a:extLst>
                <a:ext uri="{FF2B5EF4-FFF2-40B4-BE49-F238E27FC236}">
                  <a16:creationId xmlns:a16="http://schemas.microsoft.com/office/drawing/2014/main" id="{8D2CA353-4AC3-432A-8704-A618563E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orma libre 12">
              <a:extLst>
                <a:ext uri="{FF2B5EF4-FFF2-40B4-BE49-F238E27FC236}">
                  <a16:creationId xmlns:a16="http://schemas.microsoft.com/office/drawing/2014/main" id="{71685CFF-C2D8-4119-9CDA-504914853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orma libre 13">
              <a:extLst>
                <a:ext uri="{FF2B5EF4-FFF2-40B4-BE49-F238E27FC236}">
                  <a16:creationId xmlns:a16="http://schemas.microsoft.com/office/drawing/2014/main" id="{119C20C9-05B5-4384-9F4E-B4B8FA299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orma libre 14">
              <a:extLst>
                <a:ext uri="{FF2B5EF4-FFF2-40B4-BE49-F238E27FC236}">
                  <a16:creationId xmlns:a16="http://schemas.microsoft.com/office/drawing/2014/main" id="{F78ACAA7-E69F-43D4-919F-59DCA6482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orma libre 15">
              <a:extLst>
                <a:ext uri="{FF2B5EF4-FFF2-40B4-BE49-F238E27FC236}">
                  <a16:creationId xmlns:a16="http://schemas.microsoft.com/office/drawing/2014/main" id="{96704AC3-E553-4428-AD42-796DD344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orma libre 16">
              <a:extLst>
                <a:ext uri="{FF2B5EF4-FFF2-40B4-BE49-F238E27FC236}">
                  <a16:creationId xmlns:a16="http://schemas.microsoft.com/office/drawing/2014/main" id="{3144CE2D-2D9E-4E16-92AA-F685E4549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orma libre 17">
              <a:extLst>
                <a:ext uri="{FF2B5EF4-FFF2-40B4-BE49-F238E27FC236}">
                  <a16:creationId xmlns:a16="http://schemas.microsoft.com/office/drawing/2014/main" id="{CD4C0C99-C139-4838-92A2-2C05514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orma libre 18">
              <a:extLst>
                <a:ext uri="{FF2B5EF4-FFF2-40B4-BE49-F238E27FC236}">
                  <a16:creationId xmlns:a16="http://schemas.microsoft.com/office/drawing/2014/main" id="{6D356AA9-ECE0-4E40-A277-44AC6EF7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orma libre 19">
              <a:extLst>
                <a:ext uri="{FF2B5EF4-FFF2-40B4-BE49-F238E27FC236}">
                  <a16:creationId xmlns:a16="http://schemas.microsoft.com/office/drawing/2014/main" id="{5A9C3CFE-942C-43DB-9652-8B264755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orma libre 20">
              <a:extLst>
                <a:ext uri="{FF2B5EF4-FFF2-40B4-BE49-F238E27FC236}">
                  <a16:creationId xmlns:a16="http://schemas.microsoft.com/office/drawing/2014/main" id="{F3DDB2C0-7B2C-4BA5-8ECA-46327467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orma libre 21">
              <a:extLst>
                <a:ext uri="{FF2B5EF4-FFF2-40B4-BE49-F238E27FC236}">
                  <a16:creationId xmlns:a16="http://schemas.microsoft.com/office/drawing/2014/main" id="{CCB346B3-FD72-422B-9688-F54E77399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orma libre 22">
              <a:extLst>
                <a:ext uri="{FF2B5EF4-FFF2-40B4-BE49-F238E27FC236}">
                  <a16:creationId xmlns:a16="http://schemas.microsoft.com/office/drawing/2014/main" id="{A5E738B1-537A-48F5-B99B-72BF4EA8B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65CAAAF8-C872-447C-BCD0-F5CD3016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0" name="Forma libre 27">
              <a:extLst>
                <a:ext uri="{FF2B5EF4-FFF2-40B4-BE49-F238E27FC236}">
                  <a16:creationId xmlns:a16="http://schemas.microsoft.com/office/drawing/2014/main" id="{3CD192F9-4898-4362-B1A2-3DDAA5461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orma libre 28">
              <a:extLst>
                <a:ext uri="{FF2B5EF4-FFF2-40B4-BE49-F238E27FC236}">
                  <a16:creationId xmlns:a16="http://schemas.microsoft.com/office/drawing/2014/main" id="{25658BAB-0A60-4CAE-B735-5297A284A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orma libre 29">
              <a:extLst>
                <a:ext uri="{FF2B5EF4-FFF2-40B4-BE49-F238E27FC236}">
                  <a16:creationId xmlns:a16="http://schemas.microsoft.com/office/drawing/2014/main" id="{B176DB7C-2C45-4E08-956B-5D2E339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orma libre 30">
              <a:extLst>
                <a:ext uri="{FF2B5EF4-FFF2-40B4-BE49-F238E27FC236}">
                  <a16:creationId xmlns:a16="http://schemas.microsoft.com/office/drawing/2014/main" id="{671B014E-7E67-4978-A9AB-7C6E2F99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orma libre 31">
              <a:extLst>
                <a:ext uri="{FF2B5EF4-FFF2-40B4-BE49-F238E27FC236}">
                  <a16:creationId xmlns:a16="http://schemas.microsoft.com/office/drawing/2014/main" id="{193156F8-3B15-4064-8C4B-F21ED4F37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orma libre 32">
              <a:extLst>
                <a:ext uri="{FF2B5EF4-FFF2-40B4-BE49-F238E27FC236}">
                  <a16:creationId xmlns:a16="http://schemas.microsoft.com/office/drawing/2014/main" id="{96B721A4-876F-43D1-B231-585A55B38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orma libre 33">
              <a:extLst>
                <a:ext uri="{FF2B5EF4-FFF2-40B4-BE49-F238E27FC236}">
                  <a16:creationId xmlns:a16="http://schemas.microsoft.com/office/drawing/2014/main" id="{3D9AB238-BB7F-4D15-83B0-BD6CA92CC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orma libre 34">
              <a:extLst>
                <a:ext uri="{FF2B5EF4-FFF2-40B4-BE49-F238E27FC236}">
                  <a16:creationId xmlns:a16="http://schemas.microsoft.com/office/drawing/2014/main" id="{85F91E03-6B79-4561-AADA-9D9EE5194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orma libre 35">
              <a:extLst>
                <a:ext uri="{FF2B5EF4-FFF2-40B4-BE49-F238E27FC236}">
                  <a16:creationId xmlns:a16="http://schemas.microsoft.com/office/drawing/2014/main" id="{A2B05A7B-02BB-4384-AB3F-6300769C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orma libre 36">
              <a:extLst>
                <a:ext uri="{FF2B5EF4-FFF2-40B4-BE49-F238E27FC236}">
                  <a16:creationId xmlns:a16="http://schemas.microsoft.com/office/drawing/2014/main" id="{10C0CEA7-547A-4AB3-99B0-971B1E98A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orma libre 37">
              <a:extLst>
                <a:ext uri="{FF2B5EF4-FFF2-40B4-BE49-F238E27FC236}">
                  <a16:creationId xmlns:a16="http://schemas.microsoft.com/office/drawing/2014/main" id="{643A7C23-A309-4BDC-AC90-7E150B0A7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orma libre 38">
              <a:extLst>
                <a:ext uri="{FF2B5EF4-FFF2-40B4-BE49-F238E27FC236}">
                  <a16:creationId xmlns:a16="http://schemas.microsoft.com/office/drawing/2014/main" id="{CDFCEA60-6323-4E47-A467-83E3D32C0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2D62A3B-08B7-4F45-B0BC-A23B2CC9C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5" name="Forma libre 11">
            <a:extLst>
              <a:ext uri="{FF2B5EF4-FFF2-40B4-BE49-F238E27FC236}">
                <a16:creationId xmlns:a16="http://schemas.microsoft.com/office/drawing/2014/main" id="{7527CAFC-17AC-48FE-AB33-811D38361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48" name="Marcador de contenido 47">
            <a:extLst>
              <a:ext uri="{FF2B5EF4-FFF2-40B4-BE49-F238E27FC236}">
                <a16:creationId xmlns:a16="http://schemas.microsoft.com/office/drawing/2014/main" id="{D66A8AE9-5029-48DF-865F-F920AACF9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4184" t="18798" r="12263" b="50000"/>
          <a:stretch/>
        </p:blipFill>
        <p:spPr>
          <a:xfrm>
            <a:off x="1328540" y="1410942"/>
            <a:ext cx="9846127" cy="54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5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Cronograma</a:t>
            </a:r>
          </a:p>
        </p:txBody>
      </p:sp>
      <p:pic>
        <p:nvPicPr>
          <p:cNvPr id="62" name="Marcador de contenido 61">
            <a:extLst>
              <a:ext uri="{FF2B5EF4-FFF2-40B4-BE49-F238E27FC236}">
                <a16:creationId xmlns:a16="http://schemas.microsoft.com/office/drawing/2014/main" id="{8ACBBB2A-032F-4C3C-8AE2-004EFF668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96826" y="1623397"/>
            <a:ext cx="8597770" cy="494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1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Cronograma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7434553-AF75-44C5-BFC2-325A8B9EA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97209" y="1237060"/>
            <a:ext cx="7397581" cy="5548186"/>
          </a:xfrm>
        </p:spPr>
      </p:pic>
    </p:spTree>
    <p:extLst>
      <p:ext uri="{BB962C8B-B14F-4D97-AF65-F5344CB8AC3E}">
        <p14:creationId xmlns:p14="http://schemas.microsoft.com/office/powerpoint/2010/main" val="20394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Cronograma</a:t>
            </a:r>
          </a:p>
        </p:txBody>
      </p:sp>
      <p:graphicFrame>
        <p:nvGraphicFramePr>
          <p:cNvPr id="6" name="Marcador de posición de contenido 5" descr="gráfico">
            <a:extLst>
              <a:ext uri="{FF2B5EF4-FFF2-40B4-BE49-F238E27FC236}">
                <a16:creationId xmlns:a16="http://schemas.microsoft.com/office/drawing/2014/main" id="{4F8339CB-596F-46C7-A612-EA1CB5750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560822"/>
              </p:ext>
            </p:extLst>
          </p:nvPr>
        </p:nvGraphicFramePr>
        <p:xfrm>
          <a:off x="2296020" y="1672683"/>
          <a:ext cx="7599960" cy="4784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026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Jira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2997F50-EF6D-418B-A6F8-B6BD156D7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43298" y="1445443"/>
            <a:ext cx="10734532" cy="5040198"/>
          </a:xfrm>
        </p:spPr>
      </p:pic>
    </p:spTree>
    <p:extLst>
      <p:ext uri="{BB962C8B-B14F-4D97-AF65-F5344CB8AC3E}">
        <p14:creationId xmlns:p14="http://schemas.microsoft.com/office/powerpoint/2010/main" val="37853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Jira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E2CBB-7C9F-4D9C-B2BF-1008E65C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D65DBF-8211-4A82-9737-5F359F4C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32" y="1264555"/>
            <a:ext cx="10787406" cy="549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0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puntos claro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Base de Datos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2793CCD-D442-457D-B27B-91E467AA5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7990" t="14791" r="16747" b="7450"/>
          <a:stretch/>
        </p:blipFill>
        <p:spPr>
          <a:xfrm>
            <a:off x="2065867" y="1404317"/>
            <a:ext cx="8060266" cy="5131949"/>
          </a:xfrm>
        </p:spPr>
      </p:pic>
    </p:spTree>
    <p:extLst>
      <p:ext uri="{BB962C8B-B14F-4D97-AF65-F5344CB8AC3E}">
        <p14:creationId xmlns:p14="http://schemas.microsoft.com/office/powerpoint/2010/main" val="344551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/>
              <a:t>MoSCoW</a:t>
            </a:r>
            <a:endParaRPr lang="es-ES" dirty="0"/>
          </a:p>
        </p:txBody>
      </p:sp>
      <p:graphicFrame>
        <p:nvGraphicFramePr>
          <p:cNvPr id="5" name="Marcador de posición de contenido 2" descr="Gráfico de SmartArt con lista de iconos">
            <a:extLst>
              <a:ext uri="{FF2B5EF4-FFF2-40B4-BE49-F238E27FC236}">
                <a16:creationId xmlns:a16="http://schemas.microsoft.com/office/drawing/2014/main" id="{7201ED44-E43F-0F4D-9EE4-135AC6924F3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156345"/>
              </p:ext>
            </p:extLst>
          </p:nvPr>
        </p:nvGraphicFramePr>
        <p:xfrm>
          <a:off x="687388" y="1549961"/>
          <a:ext cx="6589785" cy="5151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FCD694B6-98D2-4B15-928A-19E43B864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106" y="2272020"/>
            <a:ext cx="4481893" cy="23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é es el método MoSCoW? - TAKTIC">
            <a:extLst>
              <a:ext uri="{FF2B5EF4-FFF2-40B4-BE49-F238E27FC236}">
                <a16:creationId xmlns:a16="http://schemas.microsoft.com/office/drawing/2014/main" id="{B07DB3A2-D537-45FF-8D80-8194B2D26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744" y="-817"/>
            <a:ext cx="3208255" cy="227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SCoW Method - We ask and you answer! The best answer wins! - Benchmark  Six Sigma Forum">
            <a:extLst>
              <a:ext uri="{FF2B5EF4-FFF2-40B4-BE49-F238E27FC236}">
                <a16:creationId xmlns:a16="http://schemas.microsoft.com/office/drawing/2014/main" id="{2F556B26-40A1-4108-98CF-B1C826172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63"/>
          <a:stretch/>
        </p:blipFill>
        <p:spPr bwMode="auto">
          <a:xfrm>
            <a:off x="10209229" y="4638584"/>
            <a:ext cx="1982771" cy="221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85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puntos claros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D75439-C766-134A-A0D0-BE002D8B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hlinkClick r:id="rId4"/>
              </a:rPr>
              <a:t>jchavarro-2021b@corhuila.edu.co</a:t>
            </a:r>
            <a:endParaRPr lang="es-ES" dirty="0"/>
          </a:p>
          <a:p>
            <a:pPr rtl="0"/>
            <a:r>
              <a:rPr lang="es-ES" dirty="0">
                <a:hlinkClick r:id="rId5"/>
              </a:rPr>
              <a:t>jdguzman-2024b@corhuila.edu.co</a:t>
            </a:r>
            <a:endParaRPr lang="es-ES" dirty="0"/>
          </a:p>
          <a:p>
            <a:pPr rtl="0"/>
            <a:endParaRPr lang="es-ES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Forma libre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orma libre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orma libre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orma libre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orma libre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orma libre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orma libre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orma libre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orma libre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orma libre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orma libre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Forma libre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orma libre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orma libre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orma libre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orma libre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orma libre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orma libre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orma libre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orma libre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orma libre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orma libre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orma libre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orma libre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6373993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Espiral para planificación de eventos</Template>
  <TotalTime>14</TotalTime>
  <Words>197</Words>
  <Application>Microsoft Office PowerPoint</Application>
  <PresentationFormat>Panorámica</PresentationFormat>
  <Paragraphs>29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Espiral</vt:lpstr>
      <vt:lpstr>Presentación Planteamiento del Problema</vt:lpstr>
      <vt:lpstr>Planificación del Problema</vt:lpstr>
      <vt:lpstr>Cronograma</vt:lpstr>
      <vt:lpstr>Cronograma</vt:lpstr>
      <vt:lpstr>Cronograma</vt:lpstr>
      <vt:lpstr>Jira</vt:lpstr>
      <vt:lpstr>Jira</vt:lpstr>
      <vt:lpstr>Base de Datos</vt:lpstr>
      <vt:lpstr>MoSCoW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Planteamiento del Problema</dc:title>
  <dc:creator>Julián Rivera</dc:creator>
  <cp:lastModifiedBy>Julián Rivera</cp:lastModifiedBy>
  <cp:revision>3</cp:revision>
  <dcterms:created xsi:type="dcterms:W3CDTF">2025-03-12T22:51:11Z</dcterms:created>
  <dcterms:modified xsi:type="dcterms:W3CDTF">2025-03-12T23:11:12Z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